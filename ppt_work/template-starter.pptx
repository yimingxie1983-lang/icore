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10a340121a405d" /><Relationship Type="http://schemas.openxmlformats.org/officeDocument/2006/relationships/extended-properties" Target="/docProps/app.xml" Id="R9f905dad80984c5f" /><Relationship Type="http://schemas.openxmlformats.org/officeDocument/2006/relationships/officeDocument" Target="/ppt/presentation.xml" Id="R18cb79f82ec648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2cb3917e7d4813"/>
  </p:sldMasterIdLst>
  <p:notesMasterIdLst>
    <p:notesMasterId xmlns:r="http://schemas.openxmlformats.org/officeDocument/2006/relationships" r:id="Rd30cf37fc6994fd5"/>
  </p:notesMasterIdLst>
  <p:sldIdLst>
    <p:sldId xmlns:r="http://schemas.openxmlformats.org/officeDocument/2006/relationships" id="256" r:id="R0173e17d755c4158"/>
    <p:sldId xmlns:r="http://schemas.openxmlformats.org/officeDocument/2006/relationships" id="257" r:id="R18fa81a3c8d147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d032d0b907496f" /><Relationship Type="http://schemas.openxmlformats.org/officeDocument/2006/relationships/slideMaster" Target="/ppt/slideMasters/slideMaster1.xml" Id="R542cb3917e7d4813" /><Relationship Type="http://schemas.openxmlformats.org/officeDocument/2006/relationships/notesMaster" Target="/ppt/notesMasters/notesMaster1.xml" Id="Rd30cf37fc6994fd5" /><Relationship Type="http://schemas.openxmlformats.org/officeDocument/2006/relationships/presProps" Target="/ppt/presProps.xml" Id="Rd8f32bde87da444d" /><Relationship Type="http://schemas.openxmlformats.org/officeDocument/2006/relationships/viewProps" Target="/ppt/viewProps.xml" Id="R5e4a836d32b94d31" /><Relationship Type="http://schemas.openxmlformats.org/officeDocument/2006/relationships/tableStyles" Target="/ppt/tableStyles.xml" Id="R22f02f5f610f40b0" /><Relationship Type="http://schemas.openxmlformats.org/officeDocument/2006/relationships/slide" Target="/ppt/slides/slide1.xml" Id="R0173e17d755c4158" /><Relationship Type="http://schemas.openxmlformats.org/officeDocument/2006/relationships/slide" Target="/ppt/slides/slide2.xml" Id="R18fa81a3c8d147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581c9d6e7642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8941cea6dd417a" /><Relationship Type="http://schemas.openxmlformats.org/officeDocument/2006/relationships/notesMaster" Target="/ppt/notesMasters/notesMaster1.xml" Id="Rbccd7f509edc45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8f492ed75142db" /><Relationship Type="http://schemas.openxmlformats.org/officeDocument/2006/relationships/notesMaster" Target="/ppt/notesMasters/notesMaster1.xml" Id="R24e6a066550549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45c1fb33cf453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4894c7a417423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511f89ba11492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c87fed4e30402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dccbc945ea443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728039b5a44b8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e7f80e0f524a8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6184d8ceed4d7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61d2f6bf5b416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f9606ab238471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bc991d2b694335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FBEE8F1-E82E-461C-9B37-9B5E7FA37B7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F981AF17-0444-4CD2-B192-CEDC262BFC1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EA0B916-B8FC-4868-A020-789B90B1C61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6669B40-2A53-45C4-9EBE-3784686EAB3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50318D5-0D1B-46B4-BD8C-ACC96E3973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54ED682-95AA-4E36-A906-95EC59EC37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0F43EBC-16B6-4511-AA07-278AB904823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CCEC179-7EC0-42B1-85D9-84B9109953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6E46AC5-3CF8-4308-9B61-A3F93B9690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E0E256A-0DCD-4EB6-8DBC-CFACE29FE9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18F57EF-7C49-4372-80F1-E65691C496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904515D-13F6-4424-A810-7CA24891D4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9CE5404-F931-4D34-B2B8-AB92E9CD69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4CC2ADB-5268-44C8-B69E-C0F44368C8A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DC97B06-CE1F-4F79-9640-9A2506D104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921A0B3-4B49-44CA-AE86-9EB5679474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F8E012D-0917-4085-80DB-D7F2735D261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9760AF3D-3AEC-4DF8-A0E9-F259A3BB445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70E06382-0653-462C-ABA0-8655DD6431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934272A-0B8B-48AE-8F3E-6B70F5BBE5D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26D3D80-3418-4209-9BEF-03B757CF9D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285921F-F85E-404E-9C1D-633D83AD16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EA664C2-8E6F-4E7D-8446-18390575B3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FE6B8157-8451-491F-8E95-A6284A7C43C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70C53542-AF52-4487-8A24-39E7A108D00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B19F9C6C-3936-4085-8F3A-7275E9C5A97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2F0C3C9E-79C7-4278-B0A7-841627615B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419F0A65-B817-406F-8F5A-461550C783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9B88DD4E-B2E7-4574-B65B-BF3CFC275F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9D436E7-E6C3-48E0-9541-D7BB72EE36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FAEF85B9-6040-4D3C-981A-50948292F3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C4798F72-6741-4191-B55E-3563A79C88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D1034F6-A014-4D4D-A9FD-F089B452DC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9DAE3AE7-1159-4BCA-A23C-D986E180EB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FF5ABD2E-EE61-47A5-BF08-F285A797E74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51D3C33A-2FFD-46D3-BE84-1732B4F031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D9E6144-D02C-4579-BEFD-0D927CDD2E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BD40C4F-AF0A-46BF-B203-F9CCF68BEF2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FE04D3C9-3A50-4507-B8C4-E1E9C05024E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2BBBBEB-729C-4575-A8C2-71AE11397F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0E29218-3497-4A89-9734-7747AB8326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2562516-FD06-4979-A525-3A96ABE135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8ADB9BB-3196-48ED-AEA6-532D71E0F8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199E8274-F017-46CE-A8C9-430339C1530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FC833D8F-36FA-4FA2-8E43-B980E6B1C63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663FC8C-23B0-4EA6-B797-E12AC3F366A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4B07A4C-8C6D-44E8-AD8D-A76699CB135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95DB9AB-B242-40BC-A92F-88D6849657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F41B94A-54F3-4EEF-B7C0-DD6E412524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D6A8844B-AD96-498B-8BA8-C9DE561284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D2F78DA-0466-4284-9924-6AAE2B5194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3E54661-6378-450D-8C84-25D2AE4702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8435C92-D536-4227-8D75-2FA56F57A0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47E0551C-5E9B-435E-8C9F-528F43C5C9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E84FA9B9-FD2C-4603-AE2F-BE9BFDF28D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604FDBB-0ECF-4591-8A9D-B611257440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FBE2F01-4EDE-419B-8FDC-49A2112AB4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FD048B0-F687-48C5-ACE4-CE45748A0A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23d082b94c4f69" /><Relationship Type="http://schemas.openxmlformats.org/officeDocument/2006/relationships/slideLayout" Target="/ppt/slideLayouts/slideLayout1.xml" Id="Rda64ed05611a4436" /><Relationship Type="http://schemas.openxmlformats.org/officeDocument/2006/relationships/slideLayout" Target="/ppt/slideLayouts/slideLayout2.xml" Id="Ra64999fb1ea04a84" /><Relationship Type="http://schemas.openxmlformats.org/officeDocument/2006/relationships/slideLayout" Target="/ppt/slideLayouts/slideLayout3.xml" Id="R265de2a9ef25484e" /><Relationship Type="http://schemas.openxmlformats.org/officeDocument/2006/relationships/slideLayout" Target="/ppt/slideLayouts/slideLayout4.xml" Id="R74e93481f66a43fa" /><Relationship Type="http://schemas.openxmlformats.org/officeDocument/2006/relationships/slideLayout" Target="/ppt/slideLayouts/slideLayout5.xml" Id="Rb7d344fd3d8f4adc" /><Relationship Type="http://schemas.openxmlformats.org/officeDocument/2006/relationships/slideLayout" Target="/ppt/slideLayouts/slideLayout6.xml" Id="R44e482a1b3544e6c" /><Relationship Type="http://schemas.openxmlformats.org/officeDocument/2006/relationships/slideLayout" Target="/ppt/slideLayouts/slideLayout7.xml" Id="Rf3ad0603db13496c" /><Relationship Type="http://schemas.openxmlformats.org/officeDocument/2006/relationships/slideLayout" Target="/ppt/slideLayouts/slideLayout8.xml" Id="Rd29479f8f5724aab" /><Relationship Type="http://schemas.openxmlformats.org/officeDocument/2006/relationships/slideLayout" Target="/ppt/slideLayouts/slideLayout9.xml" Id="R5766ea9a90274866" /><Relationship Type="http://schemas.openxmlformats.org/officeDocument/2006/relationships/slideLayout" Target="/ppt/slideLayouts/slideLayout10.xml" Id="Rf6f7160dd4e24ef3" /><Relationship Type="http://schemas.openxmlformats.org/officeDocument/2006/relationships/slideLayout" Target="/ppt/slideLayouts/slideLayout11.xml" Id="R7829fc7f162349c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C29C396-A854-4A28-9613-6893E5F3B3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9D0ABA1-76B6-40D1-885F-F7AC1C707F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472D0D3-7A50-4992-ACA5-81B054687F2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329FE35-1A35-4337-87F0-5C2B95AD879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5972DDE-3333-4D24-B599-55F8EC03CD6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64ed05611a4436"/>
    <p:sldLayoutId xmlns:r="http://schemas.openxmlformats.org/officeDocument/2006/relationships" id="2147483650" r:id="Ra64999fb1ea04a84"/>
    <p:sldLayoutId xmlns:r="http://schemas.openxmlformats.org/officeDocument/2006/relationships" id="2147483651" r:id="R265de2a9ef25484e"/>
    <p:sldLayoutId xmlns:r="http://schemas.openxmlformats.org/officeDocument/2006/relationships" id="2147483652" r:id="R74e93481f66a43fa"/>
    <p:sldLayoutId xmlns:r="http://schemas.openxmlformats.org/officeDocument/2006/relationships" id="2147483653" r:id="Rb7d344fd3d8f4adc"/>
    <p:sldLayoutId xmlns:r="http://schemas.openxmlformats.org/officeDocument/2006/relationships" id="2147483654" r:id="R44e482a1b3544e6c"/>
    <p:sldLayoutId xmlns:r="http://schemas.openxmlformats.org/officeDocument/2006/relationships" id="2147483655" r:id="Rf3ad0603db13496c"/>
    <p:sldLayoutId xmlns:r="http://schemas.openxmlformats.org/officeDocument/2006/relationships" id="2147483656" r:id="Rd29479f8f5724aab"/>
    <p:sldLayoutId xmlns:r="http://schemas.openxmlformats.org/officeDocument/2006/relationships" id="2147483657" r:id="R5766ea9a90274866"/>
    <p:sldLayoutId xmlns:r="http://schemas.openxmlformats.org/officeDocument/2006/relationships" id="2147483658" r:id="Rf6f7160dd4e24ef3"/>
    <p:sldLayoutId xmlns:r="http://schemas.openxmlformats.org/officeDocument/2006/relationships" id="2147483659" r:id="R7829fc7f162349c8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fa8f7878a4c65" /><Relationship Type="http://schemas.openxmlformats.org/officeDocument/2006/relationships/image" Target="/ppt/media/image.png" Id="Rba28baec78274983" /><Relationship Type="http://schemas.openxmlformats.org/officeDocument/2006/relationships/notesSlide" Target="/ppt/notesSlides/notesSlide1.xml" Id="Rcbfab681fc9c4c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b5cff16b654dc9" /><Relationship Type="http://schemas.openxmlformats.org/officeDocument/2006/relationships/image" Target="/ppt/media/image.png" Id="Rc6ec15d9110c45ef" /><Relationship Type="http://schemas.openxmlformats.org/officeDocument/2006/relationships/notesSlide" Target="/ppt/notesSlides/notesSlide2.xml" Id="Rf0f46a6c6b19496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1B3ECC9-D55E-4C8C-A53E-201F2472112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A0422E70-13FE-4424-B8DD-FE22992FC2E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4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28baec7827498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371600"/>
            <a:ext cx="12192000" cy="4991100"/>
          </a:xfrm>
          <a:prstGeom xmlns:a="http://schemas.openxmlformats.org/drawingml/2006/main" prst="rect">
            <a:avLst/>
          </a:prstGeom>
        </p:spPr>
      </p:pic>
      <p:sp>
        <p:nvSpPr>
          <p:cNvPr id="4" name="header-kicker-11">
            <a:extLst xmlns:a="http://schemas.openxmlformats.org/drawingml/2006/main">
              <a:ext uri="{FF2B5EF4-FFF2-40B4-BE49-F238E27FC236}">
                <a16:creationId xmlns:a16="http://schemas.microsoft.com/office/drawing/2014/main" id="{20CDDBA3-7DBA-48C9-B422-75EE3416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43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65" b="1">
                <a:solidFill>
                  <a:srgbClr val="242A32"/>
                </a:solidFill>
              </a:defRPr>
            </a:pPr>
            <a:r>
              <a:rPr sz="865" b="1">
                <a:solidFill>
                  <a:srgbClr val="242A32"/>
                </a:solidFill>
              </a:rPr>
              <a:t>复旦大学智能医学研究院孵化企业</a:t>
            </a:r>
            <a:endParaRPr sz="865" b="1">
              <a:solidFill>
                <a:srgbClr val="242A32"/>
              </a:solidFill>
            </a:endParaRPr>
          </a:p>
        </p:txBody>
      </p:sp>
      <p:sp>
        <p:nvSpPr>
          <p:cNvPr id="5" name="header-company-11">
            <a:extLst xmlns:a="http://schemas.openxmlformats.org/drawingml/2006/main">
              <a:ext uri="{FF2B5EF4-FFF2-40B4-BE49-F238E27FC236}">
                <a16:creationId xmlns:a16="http://schemas.microsoft.com/office/drawing/2014/main" id="{710D2CF1-60F5-455E-8D98-53DEBB2D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048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40" b="1">
                <a:solidFill>
                  <a:srgbClr val="101820"/>
                </a:solidFill>
              </a:defRPr>
            </a:pPr>
            <a:r>
              <a:rPr sz="1240" b="1">
                <a:solidFill>
                  <a:srgbClr val="101820"/>
                </a:solidFill>
              </a:rPr>
              <a:t>上海藤核智能科技有限公司</a:t>
            </a:r>
            <a:endParaRPr sz="1240" b="1">
              <a:solidFill>
                <a:srgbClr val="101820"/>
              </a:solidFill>
            </a:endParaRPr>
          </a:p>
        </p:txBody>
      </p:sp>
      <p:sp>
        <p:nvSpPr>
          <p:cNvPr id="6" name="title-11">
            <a:extLst xmlns:a="http://schemas.openxmlformats.org/drawingml/2006/main">
              <a:ext uri="{FF2B5EF4-FFF2-40B4-BE49-F238E27FC236}">
                <a16:creationId xmlns:a16="http://schemas.microsoft.com/office/drawing/2014/main" id="{A6D5B00D-36E0-4451-82E4-8DB8FE8F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81025"/>
            <a:ext cx="11382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15" b="1">
                <a:solidFill>
                  <a:srgbClr val="071F58"/>
                </a:solidFill>
              </a:defRPr>
            </a:pPr>
            <a:r>
              <a:rPr sz="1915" b="1">
                <a:solidFill>
                  <a:srgbClr val="071F58"/>
                </a:solidFill>
              </a:rPr>
              <a:t>案例1：GSDME（DFNA5）甲基化与7个TCGA癌种</a:t>
            </a:r>
            <a:endParaRPr sz="1915" b="1">
              <a:solidFill>
                <a:srgbClr val="071F58"/>
              </a:solidFill>
            </a:endParaRPr>
          </a:p>
          <a:p xmlns:a="http://schemas.openxmlformats.org/drawingml/2006/main">
            <a:pPr>
              <a:buNone/>
              <a:defRPr sz="1915" b="1">
                <a:solidFill>
                  <a:srgbClr val="071F58"/>
                </a:solidFill>
              </a:defRPr>
            </a:pPr>
            <a:r>
              <a:rPr sz="1915" b="1">
                <a:solidFill>
                  <a:srgbClr val="071F58"/>
                </a:solidFill>
              </a:rPr>
              <a:t>生存预后及TNM分期的关联分析</a:t>
            </a:r>
            <a:endParaRPr sz="1915" b="1">
              <a:solidFill>
                <a:srgbClr val="071F58"/>
              </a:solidFill>
            </a:endParaRPr>
          </a:p>
        </p:txBody>
      </p:sp>
      <p:sp>
        <p:nvSpPr>
          <p:cNvPr id="7" name="footer-rule-11">
            <a:extLst xmlns:a="http://schemas.openxmlformats.org/drawingml/2006/main">
              <a:ext uri="{FF2B5EF4-FFF2-40B4-BE49-F238E27FC236}">
                <a16:creationId xmlns:a16="http://schemas.microsoft.com/office/drawing/2014/main" id="{8A8F4689-95D7-4E70-B861-83866669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448425"/>
            <a:ext cx="11734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F58"/>
          </a:solidFill>
          <a:ln xmlns:a="http://schemas.openxmlformats.org/drawingml/2006/main" w="0">
            <a:solidFill>
              <a:srgbClr val="071F58"/>
            </a:solidFill>
            <a:prstDash val="solid"/>
          </a:ln>
        </p:spPr>
      </p:sp>
      <p:sp>
        <p:nvSpPr>
          <p:cNvPr id="9" name="footer-11">
            <a:extLst xmlns:a="http://schemas.openxmlformats.org/drawingml/2006/main">
              <a:ext uri="{FF2B5EF4-FFF2-40B4-BE49-F238E27FC236}">
                <a16:creationId xmlns:a16="http://schemas.microsoft.com/office/drawing/2014/main" id="{90F05E0A-5E76-41AF-AA26-1066E9C4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524625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65" b="1">
                <a:solidFill>
                  <a:srgbClr val="071F58"/>
                </a:solidFill>
              </a:defRPr>
            </a:pPr>
            <a:r>
              <a:rPr sz="865" b="1">
                <a:solidFill>
                  <a:srgbClr val="071F58"/>
                </a:solidFill>
              </a:rPr>
              <a:t>iCore 医学智能体元框架 | 上海藤核智能科技有限公司</a:t>
            </a:r>
            <a:endParaRPr sz="865" b="1">
              <a:solidFill>
                <a:srgbClr val="071F58"/>
              </a:solidFill>
            </a:endParaRPr>
          </a:p>
        </p:txBody>
      </p:sp>
      <p:sp>
        <p:nvSpPr>
          <p:cNvPr id="10" name="page-11">
            <a:extLst xmlns:a="http://schemas.openxmlformats.org/drawingml/2006/main">
              <a:ext uri="{FF2B5EF4-FFF2-40B4-BE49-F238E27FC236}">
                <a16:creationId xmlns:a16="http://schemas.microsoft.com/office/drawing/2014/main" id="{53152D60-3AEC-43C1-93D5-80559336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649605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71F58"/>
                </a:solidFill>
              </a:defRPr>
            </a:pPr>
            <a:r>
              <a:rPr sz="1050" b="1">
                <a:solidFill>
                  <a:srgbClr val="071F58"/>
                </a:solidFill>
              </a:rPr>
              <a:t>11</a:t>
            </a:r>
            <a:endParaRPr sz="1050" b="1">
              <a:solidFill>
                <a:srgbClr val="071F5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72247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1B3ECC9-D55E-4C8C-A53E-201F2472112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A0422E70-13FE-4424-B8DD-FE22992FC2E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4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ec15d9110c45e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371600"/>
            <a:ext cx="12192000" cy="4991100"/>
          </a:xfrm>
          <a:prstGeom xmlns:a="http://schemas.openxmlformats.org/drawingml/2006/main" prst="rect">
            <a:avLst/>
          </a:prstGeom>
        </p:spPr>
      </p:pic>
      <p:sp>
        <p:nvSpPr>
          <p:cNvPr id="4" name="header-kicker-11">
            <a:extLst xmlns:a="http://schemas.openxmlformats.org/drawingml/2006/main">
              <a:ext uri="{FF2B5EF4-FFF2-40B4-BE49-F238E27FC236}">
                <a16:creationId xmlns:a16="http://schemas.microsoft.com/office/drawing/2014/main" id="{20CDDBA3-7DBA-48C9-B422-75EE3416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43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65" b="1">
                <a:solidFill>
                  <a:srgbClr val="242A32"/>
                </a:solidFill>
              </a:defRPr>
            </a:pPr>
            <a:r>
              <a:rPr sz="865" b="1">
                <a:solidFill>
                  <a:srgbClr val="242A32"/>
                </a:solidFill>
              </a:rPr>
              <a:t>复旦大学智能医学研究院孵化企业</a:t>
            </a:r>
            <a:endParaRPr sz="865" b="1">
              <a:solidFill>
                <a:srgbClr val="242A32"/>
              </a:solidFill>
            </a:endParaRPr>
          </a:p>
        </p:txBody>
      </p:sp>
      <p:sp>
        <p:nvSpPr>
          <p:cNvPr id="5" name="header-company-11">
            <a:extLst xmlns:a="http://schemas.openxmlformats.org/drawingml/2006/main">
              <a:ext uri="{FF2B5EF4-FFF2-40B4-BE49-F238E27FC236}">
                <a16:creationId xmlns:a16="http://schemas.microsoft.com/office/drawing/2014/main" id="{710D2CF1-60F5-455E-8D98-53DEBB2D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048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40" b="1">
                <a:solidFill>
                  <a:srgbClr val="101820"/>
                </a:solidFill>
              </a:defRPr>
            </a:pPr>
            <a:r>
              <a:rPr sz="1240" b="1">
                <a:solidFill>
                  <a:srgbClr val="101820"/>
                </a:solidFill>
              </a:rPr>
              <a:t>上海藤核智能科技有限公司</a:t>
            </a:r>
            <a:endParaRPr sz="1240" b="1">
              <a:solidFill>
                <a:srgbClr val="101820"/>
              </a:solidFill>
            </a:endParaRPr>
          </a:p>
        </p:txBody>
      </p:sp>
      <p:sp>
        <p:nvSpPr>
          <p:cNvPr id="6" name="title-11">
            <a:extLst xmlns:a="http://schemas.openxmlformats.org/drawingml/2006/main">
              <a:ext uri="{FF2B5EF4-FFF2-40B4-BE49-F238E27FC236}">
                <a16:creationId xmlns:a16="http://schemas.microsoft.com/office/drawing/2014/main" id="{A6D5B00D-36E0-4451-82E4-8DB8FE8F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81025"/>
            <a:ext cx="11382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15" b="1">
                <a:solidFill>
                  <a:srgbClr val="071F58"/>
                </a:solidFill>
              </a:defRPr>
            </a:pPr>
            <a:r>
              <a:rPr sz="1915" b="1">
                <a:solidFill>
                  <a:srgbClr val="071F58"/>
                </a:solidFill>
              </a:rPr>
              <a:t>案例1：GSDME（DFNA5）甲基化与7个TCGA癌种</a:t>
            </a:r>
            <a:endParaRPr sz="1915" b="1">
              <a:solidFill>
                <a:srgbClr val="071F58"/>
              </a:solidFill>
            </a:endParaRPr>
          </a:p>
          <a:p xmlns:a="http://schemas.openxmlformats.org/drawingml/2006/main">
            <a:pPr>
              <a:buNone/>
              <a:defRPr sz="1915" b="1">
                <a:solidFill>
                  <a:srgbClr val="071F58"/>
                </a:solidFill>
              </a:defRPr>
            </a:pPr>
            <a:r>
              <a:rPr sz="1915" b="1">
                <a:solidFill>
                  <a:srgbClr val="071F58"/>
                </a:solidFill>
              </a:rPr>
              <a:t>生存预后及TNM分期的关联分析</a:t>
            </a:r>
            <a:endParaRPr sz="1915" b="1">
              <a:solidFill>
                <a:srgbClr val="071F58"/>
              </a:solidFill>
            </a:endParaRPr>
          </a:p>
        </p:txBody>
      </p:sp>
      <p:sp>
        <p:nvSpPr>
          <p:cNvPr id="7" name="footer-rule-11">
            <a:extLst xmlns:a="http://schemas.openxmlformats.org/drawingml/2006/main">
              <a:ext uri="{FF2B5EF4-FFF2-40B4-BE49-F238E27FC236}">
                <a16:creationId xmlns:a16="http://schemas.microsoft.com/office/drawing/2014/main" id="{8A8F4689-95D7-4E70-B861-83866669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448425"/>
            <a:ext cx="11734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F58"/>
          </a:solidFill>
          <a:ln xmlns:a="http://schemas.openxmlformats.org/drawingml/2006/main" w="0">
            <a:solidFill>
              <a:srgbClr val="071F58"/>
            </a:solidFill>
            <a:prstDash val="solid"/>
          </a:ln>
        </p:spPr>
      </p:sp>
      <p:sp>
        <p:nvSpPr>
          <p:cNvPr id="9" name="footer-11">
            <a:extLst xmlns:a="http://schemas.openxmlformats.org/drawingml/2006/main">
              <a:ext uri="{FF2B5EF4-FFF2-40B4-BE49-F238E27FC236}">
                <a16:creationId xmlns:a16="http://schemas.microsoft.com/office/drawing/2014/main" id="{90F05E0A-5E76-41AF-AA26-1066E9C4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524625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65" b="1">
                <a:solidFill>
                  <a:srgbClr val="071F58"/>
                </a:solidFill>
              </a:defRPr>
            </a:pPr>
            <a:r>
              <a:rPr sz="865" b="1">
                <a:solidFill>
                  <a:srgbClr val="071F58"/>
                </a:solidFill>
              </a:rPr>
              <a:t>iCore 医学智能体元框架 | 上海藤核智能科技有限公司</a:t>
            </a:r>
            <a:endParaRPr sz="865" b="1">
              <a:solidFill>
                <a:srgbClr val="071F58"/>
              </a:solidFill>
            </a:endParaRPr>
          </a:p>
        </p:txBody>
      </p:sp>
      <p:sp>
        <p:nvSpPr>
          <p:cNvPr id="10" name="page-11">
            <a:extLst xmlns:a="http://schemas.openxmlformats.org/drawingml/2006/main">
              <a:ext uri="{FF2B5EF4-FFF2-40B4-BE49-F238E27FC236}">
                <a16:creationId xmlns:a16="http://schemas.microsoft.com/office/drawing/2014/main" id="{53152D60-3AEC-43C1-93D5-80559336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649605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71F58"/>
                </a:solidFill>
              </a:defRPr>
            </a:pPr>
            <a:r>
              <a:rPr sz="1050" b="1">
                <a:solidFill>
                  <a:srgbClr val="071F58"/>
                </a:solidFill>
              </a:rPr>
              <a:t>11</a:t>
            </a:r>
            <a:endParaRPr sz="1050" b="1">
              <a:solidFill>
                <a:srgbClr val="071F5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7224765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2026-08-17T13:55:20.4310000Z</dcterms:created>
  <dcterms:modified xsi:type="dcterms:W3CDTF">2026-08-17T13:55:20.4310000Z</dcterms:modified>
</coreProperties>
</file>
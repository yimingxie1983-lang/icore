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552c03f1742e6" /><Relationship Type="http://schemas.openxmlformats.org/officeDocument/2006/relationships/extended-properties" Target="/docProps/app.xml" Id="Rba846ed317d54eb6" /><Relationship Type="http://schemas.openxmlformats.org/officeDocument/2006/relationships/officeDocument" Target="/ppt/presentation.xml" Id="Radbf1621d110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5a19bae374a50"/>
  </p:sldMasterIdLst>
  <p:notesMasterIdLst>
    <p:notesMasterId xmlns:r="http://schemas.openxmlformats.org/officeDocument/2006/relationships" r:id="R07b8b5eeaba24e54"/>
  </p:notesMasterIdLst>
  <p:sldIdLst>
    <p:sldId xmlns:r="http://schemas.openxmlformats.org/officeDocument/2006/relationships" id="256" r:id="R2e890c7a2a8942ac"/>
    <p:sldId xmlns:r="http://schemas.openxmlformats.org/officeDocument/2006/relationships" id="257" r:id="Rf71a2080f1d7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dd727f514459c" /><Relationship Type="http://schemas.openxmlformats.org/officeDocument/2006/relationships/slideMaster" Target="/ppt/slideMasters/slideMaster1.xml" Id="Rfe15a19bae374a50" /><Relationship Type="http://schemas.openxmlformats.org/officeDocument/2006/relationships/notesMaster" Target="/ppt/notesMasters/notesMaster1.xml" Id="R07b8b5eeaba24e54" /><Relationship Type="http://schemas.openxmlformats.org/officeDocument/2006/relationships/presProps" Target="/ppt/presProps.xml" Id="Recdcea97e9d045b9" /><Relationship Type="http://schemas.openxmlformats.org/officeDocument/2006/relationships/viewProps" Target="/ppt/viewProps.xml" Id="Rb7f0ef67e6aa4c34" /><Relationship Type="http://schemas.openxmlformats.org/officeDocument/2006/relationships/tableStyles" Target="/ppt/tableStyles.xml" Id="R4715d5ed20964c7c" /><Relationship Type="http://schemas.openxmlformats.org/officeDocument/2006/relationships/slide" Target="/ppt/slides/slide1.xml" Id="R2e890c7a2a8942ac" /><Relationship Type="http://schemas.openxmlformats.org/officeDocument/2006/relationships/slide" Target="/ppt/slides/slide2.xml" Id="Rf71a2080f1d7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5ba6cd005d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e41ae899b4f94" /><Relationship Type="http://schemas.openxmlformats.org/officeDocument/2006/relationships/notesMaster" Target="/ppt/notesMasters/notesMaster1.xml" Id="Rad89bd534328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a2af28b21429f" /><Relationship Type="http://schemas.openxmlformats.org/officeDocument/2006/relationships/notesMaster" Target="/ppt/notesMasters/notesMaster1.xml" Id="Rc9ed6ba7e63e4b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案例定位：展示 iCore 把多源临床材料压缩为可核验的鉴别诊断与行动优先级，而非替代医生判断。</a:t>
            </a:r>
          </a:p>
          <a:p xmlns:a="http://schemas.openxmlformats.org/drawingml/2006/main">
            <a:r>
              <a:t>病例来源：iCore“数据清洗”项目 digital_twins/乳腺癌数字孪生病历_A001.md 与 数字孪生病历_A001_鉴别诊断与治疗建议.md（2026-08-16）。该病例为合成数据。</a:t>
            </a:r>
          </a:p>
          <a:p xmlns:a="http://schemas.openxmlformats.org/drawingml/2006/main">
            <a:r>
              <a:t>关键事实：38 岁女性；右乳浸润性癌 NST，G3；HER2 IHC 2+，FISH 比值 4.2；ER 8%，Ki-67 45%；cT2N1M0 ⅡB 期；母亲乳腺癌、姨母卵巢癌家族史。</a:t>
            </a:r>
          </a:p>
          <a:p xmlns:a="http://schemas.openxmlformats.org/drawingml/2006/main">
            <a:r>
              <a:t>输出逻辑：主诉/影像/检验锚定 HER2 阳性 ER-low 高增殖；鉴别排除纤维腺瘤、增生结节、小叶癌、三阴性/基底样、炎性乳腺癌；cN1 需病理证实。</a:t>
            </a:r>
          </a:p>
          <a:p xmlns:a="http://schemas.openxmlformats.org/drawingml/2006/main">
            <a:r>
              <a:t>[Sources] 项目内证据：digital_twins/数字孪生病历_A001_鉴别诊断与治疗建议.md； PubMed 已核验引用：TRAIN-2 [PMID:30413379]，NeoSphere [PMID:22153890]，KATHERINE [PMID:30516102]，POEMS [PMID:25738668]，ER-low [PMID:37460743]。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案例定位：展示 iCore 从 4.77 万行 EDC 导出数据中先治理结构、版本和缺失语义，再把可靠分母与临床背景转化为可讨论的 II 期方案。</a:t>
            </a:r>
          </a:p>
          <a:p xmlns:a="http://schemas.openxmlformats.org/drawingml/2006/main">
            <a:r>
              <a:t>数据来源：iCore“数据清洗”项目 data_governance/数据治理方案_AHCC09_Medical_Review.md 与 step1–step5 扫描产物；AHCC09 Medical Review Listings，2026-07-17 快照，21 sheet、47,716 行、193 名受试者。</a:t>
            </a:r>
          </a:p>
          <a:p xmlns:a="http://schemas.openxmlformats.org/drawingml/2006/main">
            <a:r>
              <a:t>治理要点：20/21 表含 Status；同主键 Old/New 并存合计 20 组，集中在 Local Labs、Vital Signs、Physical Examination、EGD、Y90 Eligibility、Child-Pugh、HBV/HCV/HIV。日期存在 ISO、DDMMMYYYY 与 YYYY-UN-UN。Y90 Eligibility 95 列中 88 列有缺失，需区分结构性缺失与真缺失。</a:t>
            </a:r>
          </a:p>
          <a:p xmlns:a="http://schemas.openxmlformats.org/drawingml/2006/main">
            <a:r>
              <a:t>方案输出：Phase2_Protocol_T+A+SIRT90_HCC_v0.1.md；不可切除 HCC，T+A 联合 SIRT-Y90，单臂 II 期；主要终点 ORR（RECIST 1.1）。Simon Minimax：p0=0.40，p1=0.60，第一阶段 17 例，累计 41 例可评估，r1=7、r=21；α=0.047，power=80.1%，考虑 10% 不可评估率计划入组 46 例。</a:t>
            </a:r>
          </a:p>
          <a:p xmlns:a="http://schemas.openxmlformats.org/drawingml/2006/main">
            <a:r>
              <a:t>[Sources] 项目内证据：data_governance/数据治理方案_AHCC09_Medical_Review.md、Phase2_Protocol_T+A+SIRT90_HCC_v0.1.md、step4_deep.txt、step5_overview.txt； 文献：IMbrave150 [PMID:32402160][PMID:34902530]，SARAH post-hoc [PMID:31797680]，Simon two-stage [PMID:2702835]。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c6b53bd854b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54bbf6cec4f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0a60454bb47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ada6ce4b949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d77d12f484b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c660a16bd42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9f09e64b24a3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511e971004e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31604c1d54d6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4157ccce84d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0acffd52446d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BEE8F1-E82E-461C-9B37-9B5E7FA37B7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981AF17-0444-4CD2-B192-CEDC262BFC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A0B916-B8FC-4868-A020-789B90B1C6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669B40-2A53-45C4-9EBE-3784686EAB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50318D5-0D1B-46B4-BD8C-ACC96E397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4ED682-95AA-4E36-A906-95EC59EC3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0F43EBC-16B6-4511-AA07-278AB90482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CEC179-7EC0-42B1-85D9-84B910995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E46AC5-3CF8-4308-9B61-A3F93B9690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0E256A-0DCD-4EB6-8DBC-CFACE29FE9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8F57EF-7C49-4372-80F1-E65691C49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904515D-13F6-4424-A810-7CA24891D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CE5404-F931-4D34-B2B8-AB92E9CD69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CC2ADB-5268-44C8-B69E-C0F44368C8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DC97B06-CE1F-4F79-9640-9A2506D10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921A0B3-4B49-44CA-AE86-9EB567947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8E012D-0917-4085-80DB-D7F2735D26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760AF3D-3AEC-4DF8-A0E9-F259A3BB44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0E06382-0653-462C-ABA0-8655DD6431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34272A-0B8B-48AE-8F3E-6B70F5BBE5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26D3D80-3418-4209-9BEF-03B757CF9D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85921F-F85E-404E-9C1D-633D83AD1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A664C2-8E6F-4E7D-8446-18390575B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E6B8157-8451-491F-8E95-A6284A7C43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0C53542-AF52-4487-8A24-39E7A108D00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19F9C6C-3936-4085-8F3A-7275E9C5A97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F0C3C9E-79C7-4278-B0A7-841627615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19F0A65-B817-406F-8F5A-461550C783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B88DD4E-B2E7-4574-B65B-BF3CFC275F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D436E7-E6C3-48E0-9541-D7BB72EE3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AEF85B9-6040-4D3C-981A-50948292F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4798F72-6741-4191-B55E-3563A79C88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D1034F6-A014-4D4D-A9FD-F089B452D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DAE3AE7-1159-4BCA-A23C-D986E180EB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F5ABD2E-EE61-47A5-BF08-F285A797E7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1D3C33A-2FFD-46D3-BE84-1732B4F031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9E6144-D02C-4579-BEFD-0D927CDD2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BD40C4F-AF0A-46BF-B203-F9CCF68BEF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E04D3C9-3A50-4507-B8C4-E1E9C05024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2BBBBEB-729C-4575-A8C2-71AE11397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0E29218-3497-4A89-9734-7747AB832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62516-FD06-4979-A525-3A96ABE135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ADB9BB-3196-48ED-AEA6-532D71E0F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99E8274-F017-46CE-A8C9-430339C1530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C833D8F-36FA-4FA2-8E43-B980E6B1C6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663FC8C-23B0-4EA6-B797-E12AC3F366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4B07A4C-8C6D-44E8-AD8D-A76699CB13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5DB9AB-B242-40BC-A92F-88D684965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41B94A-54F3-4EEF-B7C0-DD6E41252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6A8844B-AD96-498B-8BA8-C9DE561284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2F78DA-0466-4284-9924-6AAE2B5194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3E54661-6378-450D-8C84-25D2AE470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435C92-D536-4227-8D75-2FA56F57A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7E0551C-5E9B-435E-8C9F-528F43C5C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84FA9B9-FD2C-4603-AE2F-BE9BFDF28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04FDBB-0ECF-4591-8A9D-B61125744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BE2F01-4EDE-419B-8FDC-49A2112AB4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FD048B0-F687-48C5-ACE4-CE45748A0A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0558dd2964cea" /><Relationship Type="http://schemas.openxmlformats.org/officeDocument/2006/relationships/slideLayout" Target="/ppt/slideLayouts/slideLayout1.xml" Id="R7b477e59896748c9" /><Relationship Type="http://schemas.openxmlformats.org/officeDocument/2006/relationships/slideLayout" Target="/ppt/slideLayouts/slideLayout2.xml" Id="Ra6453fb1d05e4ca6" /><Relationship Type="http://schemas.openxmlformats.org/officeDocument/2006/relationships/slideLayout" Target="/ppt/slideLayouts/slideLayout3.xml" Id="R0c8ddcea143d401a" /><Relationship Type="http://schemas.openxmlformats.org/officeDocument/2006/relationships/slideLayout" Target="/ppt/slideLayouts/slideLayout4.xml" Id="Rf711c588382f4c16" /><Relationship Type="http://schemas.openxmlformats.org/officeDocument/2006/relationships/slideLayout" Target="/ppt/slideLayouts/slideLayout5.xml" Id="R64b9ec76c2714fc0" /><Relationship Type="http://schemas.openxmlformats.org/officeDocument/2006/relationships/slideLayout" Target="/ppt/slideLayouts/slideLayout6.xml" Id="R83936be236bf4662" /><Relationship Type="http://schemas.openxmlformats.org/officeDocument/2006/relationships/slideLayout" Target="/ppt/slideLayouts/slideLayout7.xml" Id="R07484e0f02c34f70" /><Relationship Type="http://schemas.openxmlformats.org/officeDocument/2006/relationships/slideLayout" Target="/ppt/slideLayouts/slideLayout8.xml" Id="Rf61c4b4c2e0b490c" /><Relationship Type="http://schemas.openxmlformats.org/officeDocument/2006/relationships/slideLayout" Target="/ppt/slideLayouts/slideLayout9.xml" Id="R51ddfa2ad3f5495e" /><Relationship Type="http://schemas.openxmlformats.org/officeDocument/2006/relationships/slideLayout" Target="/ppt/slideLayouts/slideLayout10.xml" Id="R875d746b09dd4ab5" /><Relationship Type="http://schemas.openxmlformats.org/officeDocument/2006/relationships/slideLayout" Target="/ppt/slideLayouts/slideLayout11.xml" Id="Rfb4906cfcd584f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C29C396-A854-4A28-9613-6893E5F3B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D0ABA1-76B6-40D1-885F-F7AC1C707F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472D0D3-7A50-4992-ACA5-81B054687F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329FE35-1A35-4337-87F0-5C2B95AD87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972DDE-3333-4D24-B599-55F8EC03CD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77e59896748c9"/>
    <p:sldLayoutId xmlns:r="http://schemas.openxmlformats.org/officeDocument/2006/relationships" id="2147483650" r:id="Ra6453fb1d05e4ca6"/>
    <p:sldLayoutId xmlns:r="http://schemas.openxmlformats.org/officeDocument/2006/relationships" id="2147483651" r:id="R0c8ddcea143d401a"/>
    <p:sldLayoutId xmlns:r="http://schemas.openxmlformats.org/officeDocument/2006/relationships" id="2147483652" r:id="Rf711c588382f4c16"/>
    <p:sldLayoutId xmlns:r="http://schemas.openxmlformats.org/officeDocument/2006/relationships" id="2147483653" r:id="R64b9ec76c2714fc0"/>
    <p:sldLayoutId xmlns:r="http://schemas.openxmlformats.org/officeDocument/2006/relationships" id="2147483654" r:id="R83936be236bf4662"/>
    <p:sldLayoutId xmlns:r="http://schemas.openxmlformats.org/officeDocument/2006/relationships" id="2147483655" r:id="R07484e0f02c34f70"/>
    <p:sldLayoutId xmlns:r="http://schemas.openxmlformats.org/officeDocument/2006/relationships" id="2147483656" r:id="Rf61c4b4c2e0b490c"/>
    <p:sldLayoutId xmlns:r="http://schemas.openxmlformats.org/officeDocument/2006/relationships" id="2147483657" r:id="R51ddfa2ad3f5495e"/>
    <p:sldLayoutId xmlns:r="http://schemas.openxmlformats.org/officeDocument/2006/relationships" id="2147483658" r:id="R875d746b09dd4ab5"/>
    <p:sldLayoutId xmlns:r="http://schemas.openxmlformats.org/officeDocument/2006/relationships" id="2147483659" r:id="Rfb4906cfcd584f6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3fb50216e4440" /><Relationship Type="http://schemas.openxmlformats.org/officeDocument/2006/relationships/notesSlide" Target="/ppt/notesSlides/notesSlide1.xml" Id="Rc266e42f535546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9a0bc51284caa" /><Relationship Type="http://schemas.openxmlformats.org/officeDocument/2006/relationships/notesSlide" Target="/ppt/notesSlides/notesSlide2.xml" Id="R6aab9c8913ca42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er-kicker-11">
            <a:extLst xmlns:a="http://schemas.openxmlformats.org/drawingml/2006/main">
              <a:ext uri="{FF2B5EF4-FFF2-40B4-BE49-F238E27FC236}">
                <a16:creationId xmlns:a16="http://schemas.microsoft.com/office/drawing/2014/main" id="{20CDDBA3-7DBA-48C9-B422-75EE341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242A32"/>
                </a:solidFill>
              </a:defRPr>
            </a:pPr>
            <a:r>
              <a:rPr sz="865" b="1">
                <a:solidFill>
                  <a:srgbClr val="242A32"/>
                </a:solidFill>
              </a:rPr>
              <a:t>复旦大学智能医学研究院孵化企业</a:t>
            </a:r>
            <a:endParaRPr sz="865" b="1">
              <a:solidFill>
                <a:srgbClr val="242A32"/>
              </a:solidFill>
            </a:endParaRPr>
          </a:p>
        </p:txBody>
      </p:sp>
      <p:sp>
        <p:nvSpPr>
          <p:cNvPr id="5" name="header-company-11">
            <a:extLst xmlns:a="http://schemas.openxmlformats.org/drawingml/2006/main">
              <a:ext uri="{FF2B5EF4-FFF2-40B4-BE49-F238E27FC236}">
                <a16:creationId xmlns:a16="http://schemas.microsoft.com/office/drawing/2014/main" id="{710D2CF1-60F5-455E-8D98-53DEBB2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40" b="1">
                <a:solidFill>
                  <a:srgbClr val="101820"/>
                </a:solidFill>
              </a:defRPr>
            </a:pPr>
            <a:r>
              <a:rPr sz="1240" b="1">
                <a:solidFill>
                  <a:srgbClr val="101820"/>
                </a:solidFill>
              </a:rPr>
              <a:t>上海藤核智能科技有限公司</a:t>
            </a:r>
            <a:endParaRPr sz="1240" b="1">
              <a:solidFill>
                <a:srgbClr val="101820"/>
              </a:solidFill>
            </a:endParaRPr>
          </a:p>
        </p:txBody>
      </p:sp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A6D5B00D-36E0-4451-82E4-8DB8FE8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38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13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913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案例｜iCore 临床辅助诊断：多源病历证据整合与下一步优先级</a:t>
            </a:r>
            <a:endParaRPr sz="1915" b="1">
              <a:solidFill>
                <a:srgbClr val="071F58"/>
              </a:solidFill>
            </a:endParaRPr>
          </a:p>
        </p:txBody>
      </p:sp>
      <p:sp>
        <p:nvSpPr>
          <p:cNvPr id="7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8A8F4689-95D7-4E70-B861-8386666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448425"/>
            <a:ext cx="1173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58"/>
          </a:solidFill>
          <a:ln xmlns:a="http://schemas.openxmlformats.org/drawingml/2006/main" w="0">
            <a:solidFill>
              <a:srgbClr val="071F58"/>
            </a:solidFill>
            <a:prstDash val="solid"/>
          </a:ln>
        </p:spPr>
      </p:sp>
      <p:sp>
        <p:nvSpPr>
          <p:cNvPr id="9" name="footer-11">
            <a:extLst xmlns:a="http://schemas.openxmlformats.org/drawingml/2006/main">
              <a:ext uri="{FF2B5EF4-FFF2-40B4-BE49-F238E27FC236}">
                <a16:creationId xmlns:a16="http://schemas.microsoft.com/office/drawing/2014/main" id="{90F05E0A-5E76-41AF-AA26-1066E9C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246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071F58"/>
                </a:solidFill>
              </a:defRPr>
            </a:pPr>
            <a:r>
              <a:rPr sz="865" b="1">
                <a:solidFill>
                  <a:srgbClr val="071F58"/>
                </a:solidFill>
              </a:rPr>
              <a:t>iCore 医学智能体元框架 | 上海藤核智能科技有限公司</a:t>
            </a:r>
            <a:endParaRPr sz="865" b="1">
              <a:solidFill>
                <a:srgbClr val="071F58"/>
              </a:solidFill>
            </a:endParaRP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53152D60-3AEC-43C1-93D5-8055933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96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1</a:t>
            </a:r>
            <a:endParaRPr sz="1050" b="1">
              <a:solidFill>
                <a:srgbClr val="071F58"/>
              </a:solidFill>
            </a:endParaRPr>
          </a:p>
        </p:txBody>
      </p:sp>
      <p:sp>
        <p:nvSpPr>
          <p:cNvPr id="11" name="dx-workflow-band">
            <a:extLst xmlns:a="http://schemas.openxmlformats.org/drawingml/2006/main">
              <a:ext uri="{FF2B5EF4-FFF2-40B4-BE49-F238E27FC236}">
                <a16:creationId xmlns:a16="http://schemas.microsoft.com/office/drawing/2014/main" id="{4E79C7D8-E706-489E-B935-9968D57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1143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2" name="dx-workflow-title">
            <a:extLst xmlns:a="http://schemas.openxmlformats.org/drawingml/2006/main">
              <a:ext uri="{FF2B5EF4-FFF2-40B4-BE49-F238E27FC236}">
                <a16:creationId xmlns:a16="http://schemas.microsoft.com/office/drawing/2014/main" id="{B4183185-033A-44AD-988F-D13D5DA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iCore 工作流</a:t>
            </a:r>
          </a:p>
        </p:txBody>
      </p:sp>
      <p:sp>
        <p:nvSpPr>
          <p:cNvPr id="13" name="dx-workflow-subtitle">
            <a:extLst xmlns:a="http://schemas.openxmlformats.org/drawingml/2006/main">
              <a:ext uri="{FF2B5EF4-FFF2-40B4-BE49-F238E27FC236}">
                <a16:creationId xmlns:a16="http://schemas.microsoft.com/office/drawing/2014/main" id="{BC770B09-0522-45B4-8908-57FF2AFB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把非结构化病历转成</a:t>
            </a:r>
          </a:p>
          <a:p xmlns:a="http://schemas.openxmlformats.org/drawingml/2006/main">
            <a:pPr>
              <a:defRPr sz="90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可核验、可讨论的决策材料</a:t>
            </a:r>
          </a:p>
        </p:txBody>
      </p:sp>
      <p:sp>
        <p:nvSpPr>
          <p:cNvPr id="14" name="workflow-step-1-no">
            <a:extLst xmlns:a="http://schemas.openxmlformats.org/drawingml/2006/main">
              <a:ext uri="{FF2B5EF4-FFF2-40B4-BE49-F238E27FC236}">
                <a16:creationId xmlns:a16="http://schemas.microsoft.com/office/drawing/2014/main" id="{6357FCF5-1699-4D51-BA88-30A7E7A4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workflow-step-1-heading">
            <a:extLst xmlns:a="http://schemas.openxmlformats.org/drawingml/2006/main">
              <a:ext uri="{FF2B5EF4-FFF2-40B4-BE49-F238E27FC236}">
                <a16:creationId xmlns:a16="http://schemas.microsoft.com/office/drawing/2014/main" id="{A3D2B9A9-F5E9-447E-85DE-A6D4D05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38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病历抽取</a:t>
            </a:r>
          </a:p>
        </p:txBody>
      </p:sp>
      <p:sp>
        <p:nvSpPr>
          <p:cNvPr id="16" name="workflow-step-1-detail">
            <a:extLst xmlns:a="http://schemas.openxmlformats.org/drawingml/2006/main">
              <a:ext uri="{FF2B5EF4-FFF2-40B4-BE49-F238E27FC236}">
                <a16:creationId xmlns:a16="http://schemas.microsoft.com/office/drawing/2014/main" id="{D6A0D25D-2B32-45CB-AAE4-CDDC2F10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573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主诉、超声/钼靶、穿刺、IHC、FISH、家族史</a:t>
            </a:r>
          </a:p>
        </p:txBody>
      </p:sp>
      <p:sp>
        <p:nvSpPr>
          <p:cNvPr id="17" name="workflow-step-2-no">
            <a:extLst xmlns:a="http://schemas.openxmlformats.org/drawingml/2006/main">
              <a:ext uri="{FF2B5EF4-FFF2-40B4-BE49-F238E27FC236}">
                <a16:creationId xmlns:a16="http://schemas.microsoft.com/office/drawing/2014/main" id="{F424F403-916C-4BF0-A80B-7242E4A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38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workflow-step-2-heading">
            <a:extLst xmlns:a="http://schemas.openxmlformats.org/drawingml/2006/main">
              <a:ext uri="{FF2B5EF4-FFF2-40B4-BE49-F238E27FC236}">
                <a16:creationId xmlns:a16="http://schemas.microsoft.com/office/drawing/2014/main" id="{930B4024-EC6C-4CEF-AF39-0E81DDBE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38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关键锚定</a:t>
            </a:r>
          </a:p>
        </p:txBody>
      </p:sp>
      <p:sp>
        <p:nvSpPr>
          <p:cNvPr id="19" name="workflow-step-2-detail">
            <a:extLst xmlns:a="http://schemas.openxmlformats.org/drawingml/2006/main">
              <a:ext uri="{FF2B5EF4-FFF2-40B4-BE49-F238E27FC236}">
                <a16:creationId xmlns:a16="http://schemas.microsoft.com/office/drawing/2014/main" id="{084BE400-BAE5-4B2F-A99F-B8D3CDD4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HER2 扩增、ER-low、Ki-67、cN1、Ⅰ/ⅡB 分期</a:t>
            </a:r>
          </a:p>
        </p:txBody>
      </p:sp>
      <p:sp>
        <p:nvSpPr>
          <p:cNvPr id="20" name="workflow-step-3-no">
            <a:extLst xmlns:a="http://schemas.openxmlformats.org/drawingml/2006/main">
              <a:ext uri="{FF2B5EF4-FFF2-40B4-BE49-F238E27FC236}">
                <a16:creationId xmlns:a16="http://schemas.microsoft.com/office/drawing/2014/main" id="{E7CBFEDA-6106-4CE8-866E-B841DB58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38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workflow-step-3-heading">
            <a:extLst xmlns:a="http://schemas.openxmlformats.org/drawingml/2006/main">
              <a:ext uri="{FF2B5EF4-FFF2-40B4-BE49-F238E27FC236}">
                <a16:creationId xmlns:a16="http://schemas.microsoft.com/office/drawing/2014/main" id="{D5FABE91-ABDF-41DB-9B7D-8125EFE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38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循证检索</a:t>
            </a:r>
          </a:p>
        </p:txBody>
      </p:sp>
      <p:sp>
        <p:nvSpPr>
          <p:cNvPr id="22" name="workflow-step-3-detail">
            <a:extLst xmlns:a="http://schemas.openxmlformats.org/drawingml/2006/main">
              <a:ext uri="{FF2B5EF4-FFF2-40B4-BE49-F238E27FC236}">
                <a16:creationId xmlns:a16="http://schemas.microsoft.com/office/drawing/2014/main" id="{F0A91F46-E783-4557-99E5-4C263768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573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NeoSphere、TRAIN-2、KATHERINE、POEMS、ER-low</a:t>
            </a:r>
          </a:p>
        </p:txBody>
      </p:sp>
      <p:sp>
        <p:nvSpPr>
          <p:cNvPr id="23" name="workflow-step-4-no">
            <a:extLst xmlns:a="http://schemas.openxmlformats.org/drawingml/2006/main">
              <a:ext uri="{FF2B5EF4-FFF2-40B4-BE49-F238E27FC236}">
                <a16:creationId xmlns:a16="http://schemas.microsoft.com/office/drawing/2014/main" id="{BD356832-CF76-49C5-9139-1C23A4C8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638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workflow-step-4-heading">
            <a:extLst xmlns:a="http://schemas.openxmlformats.org/drawingml/2006/main">
              <a:ext uri="{FF2B5EF4-FFF2-40B4-BE49-F238E27FC236}">
                <a16:creationId xmlns:a16="http://schemas.microsoft.com/office/drawing/2014/main" id="{2258D387-00AF-4123-809C-546308FD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638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医生确认</a:t>
            </a:r>
          </a:p>
        </p:txBody>
      </p:sp>
      <p:sp>
        <p:nvSpPr>
          <p:cNvPr id="25" name="workflow-step-4-detail">
            <a:extLst xmlns:a="http://schemas.openxmlformats.org/drawingml/2006/main">
              <a:ext uri="{FF2B5EF4-FFF2-40B4-BE49-F238E27FC236}">
                <a16:creationId xmlns:a16="http://schemas.microsoft.com/office/drawing/2014/main" id="{4C1AAF44-E0B6-4F7F-9487-40C8593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573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鉴别、补充检查、治疗选项交经治医师与 MDT</a:t>
            </a:r>
          </a:p>
        </p:txBody>
      </p:sp>
      <p:sp>
        <p:nvSpPr>
          <p:cNvPr id="26" name="dx-workflow-split">
            <a:extLst xmlns:a="http://schemas.openxmlformats.org/drawingml/2006/main">
              <a:ext uri="{FF2B5EF4-FFF2-40B4-BE49-F238E27FC236}">
                <a16:creationId xmlns:a16="http://schemas.microsoft.com/office/drawing/2014/main" id="{B60A25A3-B157-41B7-B827-080A97A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621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x-patient-panel">
            <a:extLst xmlns:a="http://schemas.openxmlformats.org/drawingml/2006/main">
              <a:ext uri="{FF2B5EF4-FFF2-40B4-BE49-F238E27FC236}">
                <a16:creationId xmlns:a16="http://schemas.microsoft.com/office/drawing/2014/main" id="{78746FAA-ED70-450E-B109-FAD84889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2890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28" name="dx-patient-heading">
            <a:extLst xmlns:a="http://schemas.openxmlformats.org/drawingml/2006/main">
              <a:ext uri="{FF2B5EF4-FFF2-40B4-BE49-F238E27FC236}">
                <a16:creationId xmlns:a16="http://schemas.microsoft.com/office/drawing/2014/main" id="{D6597219-327B-4EE7-B4EA-BD8B8F0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病例事实（合成 A001）</a:t>
            </a:r>
          </a:p>
        </p:txBody>
      </p:sp>
      <p:sp>
        <p:nvSpPr>
          <p:cNvPr id="29" name="dx-patient-rule">
            <a:extLst xmlns:a="http://schemas.openxmlformats.org/drawingml/2006/main">
              <a:ext uri="{FF2B5EF4-FFF2-40B4-BE49-F238E27FC236}">
                <a16:creationId xmlns:a16="http://schemas.microsoft.com/office/drawing/2014/main" id="{E30D0BB1-80A3-4E6B-8E43-6FE2023C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x-patient-body">
            <a:extLst xmlns:a="http://schemas.openxmlformats.org/drawingml/2006/main">
              <a:ext uri="{FF2B5EF4-FFF2-40B4-BE49-F238E27FC236}">
                <a16:creationId xmlns:a16="http://schemas.microsoft.com/office/drawing/2014/main" id="{F2576DBE-7A0D-4107-99C7-3EAC3042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05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患者：38 岁未绝经女性，右乳无痛性增大肿块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病理：浸润性癌 NST / IDC-NOS，Nottingham 3 级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分子：HER2 IHC 2+，FISH HER2/CEP17=4.2 扩增；ER 8%，Ki-67 45%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分期：cT2N1M0，AJCC ⅡB 期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家族史：母亲 52 岁乳腺癌，姨母 55 岁卵巢癌</a:t>
            </a:r>
          </a:p>
        </p:txBody>
      </p:sp>
      <p:sp>
        <p:nvSpPr>
          <p:cNvPr id="31" name="dx-output-panel">
            <a:extLst xmlns:a="http://schemas.openxmlformats.org/drawingml/2006/main">
              <a:ext uri="{FF2B5EF4-FFF2-40B4-BE49-F238E27FC236}">
                <a16:creationId xmlns:a16="http://schemas.microsoft.com/office/drawing/2014/main" id="{DF464256-94AE-435D-96F7-77D6266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905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32" name="dx-output-heading">
            <a:extLst xmlns:a="http://schemas.openxmlformats.org/drawingml/2006/main">
              <a:ext uri="{FF2B5EF4-FFF2-40B4-BE49-F238E27FC236}">
                <a16:creationId xmlns:a16="http://schemas.microsoft.com/office/drawing/2014/main" id="{8FECC4A1-635D-4AB8-B476-3D6FD26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iCore 辅助判断输出</a:t>
            </a:r>
          </a:p>
        </p:txBody>
      </p:sp>
      <p:sp>
        <p:nvSpPr>
          <p:cNvPr id="33" name="dx-output-body">
            <a:extLst xmlns:a="http://schemas.openxmlformats.org/drawingml/2006/main">
              <a:ext uri="{FF2B5EF4-FFF2-40B4-BE49-F238E27FC236}">
                <a16:creationId xmlns:a16="http://schemas.microsoft.com/office/drawing/2014/main" id="{BF84F445-77D8-4051-B500-B237D11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7477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核心分型：HER2 阳性型、ER-low、高增殖；腋窝淋巴结影像可疑（cN1），需病理证实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鉴别排除：纤维腺瘤、增生结节、乳头状瘤、小叶癌、基底样/三阴性、炎性乳腺癌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循证支撑：新辅助双靶与术后 T-DM1 阶梯均引用已核验 PMID，不用裸结论</a:t>
            </a:r>
          </a:p>
        </p:txBody>
      </p:sp>
      <p:sp>
        <p:nvSpPr>
          <p:cNvPr id="34" name="dx-next-panel">
            <a:extLst xmlns:a="http://schemas.openxmlformats.org/drawingml/2006/main">
              <a:ext uri="{FF2B5EF4-FFF2-40B4-BE49-F238E27FC236}">
                <a16:creationId xmlns:a16="http://schemas.microsoft.com/office/drawing/2014/main" id="{4B3A3763-8366-470C-A5ED-E2D5ADCB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67200"/>
            <a:ext cx="7905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35" name="dx-next-heading">
            <a:extLst xmlns:a="http://schemas.openxmlformats.org/drawingml/2006/main">
              <a:ext uri="{FF2B5EF4-FFF2-40B4-BE49-F238E27FC236}">
                <a16:creationId xmlns:a16="http://schemas.microsoft.com/office/drawing/2014/main" id="{E8F68D7B-D4EC-489B-9981-1469546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下一步优先级（供临床确认）</a:t>
            </a:r>
          </a:p>
        </p:txBody>
      </p:sp>
      <p:sp>
        <p:nvSpPr>
          <p:cNvPr id="36" name="dx-next-body">
            <a:extLst xmlns:a="http://schemas.openxmlformats.org/drawingml/2006/main">
              <a:ext uri="{FF2B5EF4-FFF2-40B4-BE49-F238E27FC236}">
                <a16:creationId xmlns:a16="http://schemas.microsoft.com/office/drawing/2014/main" id="{02599DFC-0055-4B78-98E0-67E3AD87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43450"/>
            <a:ext cx="747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① 胚系 BRCA1/2 检测 + 遗传咨询：直接影响手术范围与对侧/卵巢风险管理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② 基线 LVEF/ECG 与腋窝淋巴结穿刺或标记夹：治疗前安全与准确分期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③ 生殖医学评估生育力保存；新辅助选项 TCHP / THP，非 pCR 后考虑 T-DM1</a:t>
            </a:r>
          </a:p>
        </p:txBody>
      </p:sp>
      <p:sp>
        <p:nvSpPr>
          <p:cNvPr id="37" name="dx-safety-strip">
            <a:extLst xmlns:a="http://schemas.openxmlformats.org/drawingml/2006/main">
              <a:ext uri="{FF2B5EF4-FFF2-40B4-BE49-F238E27FC236}">
                <a16:creationId xmlns:a16="http://schemas.microsoft.com/office/drawing/2014/main" id="{742C40FF-CFFF-46ED-BD06-473810AC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C46B"/>
            </a:solidFill>
            <a:prstDash val="solid"/>
          </a:ln>
        </p:spPr>
      </p:sp>
      <p:sp>
        <p:nvSpPr>
          <p:cNvPr id="38" name="dx-safety-text">
            <a:extLst xmlns:a="http://schemas.openxmlformats.org/drawingml/2006/main">
              <a:ext uri="{FF2B5EF4-FFF2-40B4-BE49-F238E27FC236}">
                <a16:creationId xmlns:a16="http://schemas.microsoft.com/office/drawing/2014/main" id="{CE0BFFE6-E425-4717-9AF6-E0954A70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A4A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4A00"/>
                </a:solidFill>
                <a:latin typeface="Calibri"/>
                <a:ea typeface="Calibri"/>
                <a:cs typeface="Calibri"/>
              </a:rPr>
              <a:t>安全边界：A001 为合成数字孪生病历，非真实患者；iCore 只做证据整理与选项排序，最终诊断和治疗方案由经治医师结合患者意愿与 MDT 决定。</a:t>
            </a:r>
          </a:p>
        </p:txBody>
      </p:sp>
    </p:spTree>
    <p:extLst>
      <p:ext uri="{BB962C8B-B14F-4D97-AF65-F5344CB8AC3E}">
        <p14:creationId xmlns:p14="http://schemas.microsoft.com/office/powerpoint/2010/main" val="717224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er-kicker-11">
            <a:extLst xmlns:a="http://schemas.openxmlformats.org/drawingml/2006/main">
              <a:ext uri="{FF2B5EF4-FFF2-40B4-BE49-F238E27FC236}">
                <a16:creationId xmlns:a16="http://schemas.microsoft.com/office/drawing/2014/main" id="{20CDDBA3-7DBA-48C9-B422-75EE341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242A32"/>
                </a:solidFill>
              </a:defRPr>
            </a:pPr>
            <a:r>
              <a:rPr sz="865" b="1">
                <a:solidFill>
                  <a:srgbClr val="242A32"/>
                </a:solidFill>
              </a:rPr>
              <a:t>复旦大学智能医学研究院孵化企业</a:t>
            </a:r>
            <a:endParaRPr sz="865" b="1">
              <a:solidFill>
                <a:srgbClr val="242A32"/>
              </a:solidFill>
            </a:endParaRPr>
          </a:p>
        </p:txBody>
      </p:sp>
      <p:sp>
        <p:nvSpPr>
          <p:cNvPr id="5" name="header-company-11">
            <a:extLst xmlns:a="http://schemas.openxmlformats.org/drawingml/2006/main">
              <a:ext uri="{FF2B5EF4-FFF2-40B4-BE49-F238E27FC236}">
                <a16:creationId xmlns:a16="http://schemas.microsoft.com/office/drawing/2014/main" id="{710D2CF1-60F5-455E-8D98-53DEBB2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40" b="1">
                <a:solidFill>
                  <a:srgbClr val="101820"/>
                </a:solidFill>
              </a:defRPr>
            </a:pPr>
            <a:r>
              <a:rPr sz="1240" b="1">
                <a:solidFill>
                  <a:srgbClr val="101820"/>
                </a:solidFill>
              </a:rPr>
              <a:t>上海藤核智能科技有限公司</a:t>
            </a:r>
            <a:endParaRPr sz="1240" b="1">
              <a:solidFill>
                <a:srgbClr val="101820"/>
              </a:solidFill>
            </a:endParaRPr>
          </a:p>
        </p:txBody>
      </p:sp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A6D5B00D-36E0-4451-82E4-8DB8FE8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38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13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913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案例｜iCore 药物临床试验：EDC 数据治理到 II 期方案设计</a:t>
            </a:r>
            <a:endParaRPr sz="1915" b="1">
              <a:solidFill>
                <a:srgbClr val="071F58"/>
              </a:solidFill>
            </a:endParaRPr>
          </a:p>
        </p:txBody>
      </p:sp>
      <p:sp>
        <p:nvSpPr>
          <p:cNvPr id="7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8A8F4689-95D7-4E70-B861-8386666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448425"/>
            <a:ext cx="1173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58"/>
          </a:solidFill>
          <a:ln xmlns:a="http://schemas.openxmlformats.org/drawingml/2006/main" w="0">
            <a:solidFill>
              <a:srgbClr val="071F58"/>
            </a:solidFill>
            <a:prstDash val="solid"/>
          </a:ln>
        </p:spPr>
      </p:sp>
      <p:sp>
        <p:nvSpPr>
          <p:cNvPr id="9" name="footer-11">
            <a:extLst xmlns:a="http://schemas.openxmlformats.org/drawingml/2006/main">
              <a:ext uri="{FF2B5EF4-FFF2-40B4-BE49-F238E27FC236}">
                <a16:creationId xmlns:a16="http://schemas.microsoft.com/office/drawing/2014/main" id="{90F05E0A-5E76-41AF-AA26-1066E9C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246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071F58"/>
                </a:solidFill>
              </a:defRPr>
            </a:pPr>
            <a:r>
              <a:rPr sz="865" b="1">
                <a:solidFill>
                  <a:srgbClr val="071F58"/>
                </a:solidFill>
              </a:rPr>
              <a:t>iCore 医学智能体元框架 | 上海藤核智能科技有限公司</a:t>
            </a:r>
            <a:endParaRPr sz="865" b="1">
              <a:solidFill>
                <a:srgbClr val="071F58"/>
              </a:solidFill>
            </a:endParaRP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53152D60-3AEC-43C1-93D5-8055933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96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2</a:t>
            </a:r>
            <a:endParaRPr sz="1050" b="1">
              <a:solidFill>
                <a:srgbClr val="071F58"/>
              </a:solidFill>
            </a:endParaRPr>
          </a:p>
        </p:txBody>
      </p:sp>
      <p:sp>
        <p:nvSpPr>
          <p:cNvPr id="11" name="trial-metric-band">
            <a:extLst xmlns:a="http://schemas.openxmlformats.org/drawingml/2006/main">
              <a:ext uri="{FF2B5EF4-FFF2-40B4-BE49-F238E27FC236}">
                <a16:creationId xmlns:a16="http://schemas.microsoft.com/office/drawing/2014/main" id="{6DD940A0-8EAE-4E20-B9AB-274262AB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1143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2" name="trial-metric-value-1">
            <a:extLst xmlns:a="http://schemas.openxmlformats.org/drawingml/2006/main">
              <a:ext uri="{FF2B5EF4-FFF2-40B4-BE49-F238E27FC236}">
                <a16:creationId xmlns:a16="http://schemas.microsoft.com/office/drawing/2014/main" id="{F1A196E9-8880-4B7C-B4AD-B39FE9BA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13" name="trial-metric-label-1">
            <a:extLst xmlns:a="http://schemas.openxmlformats.org/drawingml/2006/main">
              <a:ext uri="{FF2B5EF4-FFF2-40B4-BE49-F238E27FC236}">
                <a16:creationId xmlns:a16="http://schemas.microsoft.com/office/drawing/2014/main" id="{15D023F9-C1C2-4EC4-A260-CD19C5A5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CRF 表单 sheet</a:t>
            </a:r>
          </a:p>
        </p:txBody>
      </p:sp>
      <p:sp>
        <p:nvSpPr>
          <p:cNvPr id="14" name="trial-metric-split-1">
            <a:extLst xmlns:a="http://schemas.openxmlformats.org/drawingml/2006/main">
              <a:ext uri="{FF2B5EF4-FFF2-40B4-BE49-F238E27FC236}">
                <a16:creationId xmlns:a16="http://schemas.microsoft.com/office/drawing/2014/main" id="{462AC928-9F5A-41FB-A171-BB21C0EE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ial-metric-value-2">
            <a:extLst xmlns:a="http://schemas.openxmlformats.org/drawingml/2006/main">
              <a:ext uri="{FF2B5EF4-FFF2-40B4-BE49-F238E27FC236}">
                <a16:creationId xmlns:a16="http://schemas.microsoft.com/office/drawing/2014/main" id="{E6038042-765F-4E7A-BAA9-CE65370B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0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47,716</a:t>
            </a:r>
          </a:p>
        </p:txBody>
      </p:sp>
      <p:sp>
        <p:nvSpPr>
          <p:cNvPr id="16" name="trial-metric-label-2">
            <a:extLst xmlns:a="http://schemas.openxmlformats.org/drawingml/2006/main">
              <a:ext uri="{FF2B5EF4-FFF2-40B4-BE49-F238E27FC236}">
                <a16:creationId xmlns:a16="http://schemas.microsoft.com/office/drawing/2014/main" id="{EABB046C-BFC7-4B6E-9B97-62F707B3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33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EDC 数据行</a:t>
            </a:r>
          </a:p>
        </p:txBody>
      </p:sp>
      <p:sp>
        <p:nvSpPr>
          <p:cNvPr id="17" name="trial-metric-split-2">
            <a:extLst xmlns:a="http://schemas.openxmlformats.org/drawingml/2006/main">
              <a:ext uri="{FF2B5EF4-FFF2-40B4-BE49-F238E27FC236}">
                <a16:creationId xmlns:a16="http://schemas.microsoft.com/office/drawing/2014/main" id="{9C9B5D52-D305-4D9F-81E7-ADFE5085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ial-metric-value-3">
            <a:extLst xmlns:a="http://schemas.openxmlformats.org/drawingml/2006/main">
              <a:ext uri="{FF2B5EF4-FFF2-40B4-BE49-F238E27FC236}">
                <a16:creationId xmlns:a16="http://schemas.microsoft.com/office/drawing/2014/main" id="{82DFB2FD-6914-4F34-8A87-1D5C99F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0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193</a:t>
            </a:r>
          </a:p>
        </p:txBody>
      </p:sp>
      <p:sp>
        <p:nvSpPr>
          <p:cNvPr id="19" name="trial-metric-label-3">
            <a:extLst xmlns:a="http://schemas.openxmlformats.org/drawingml/2006/main">
              <a:ext uri="{FF2B5EF4-FFF2-40B4-BE49-F238E27FC236}">
                <a16:creationId xmlns:a16="http://schemas.microsoft.com/office/drawing/2014/main" id="{C72BF96A-4D42-46D6-8EA7-F7ECDA46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33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受试者（100001–100194）</a:t>
            </a:r>
          </a:p>
        </p:txBody>
      </p:sp>
      <p:sp>
        <p:nvSpPr>
          <p:cNvPr id="20" name="trial-metric-split-3">
            <a:extLst xmlns:a="http://schemas.openxmlformats.org/drawingml/2006/main">
              <a:ext uri="{FF2B5EF4-FFF2-40B4-BE49-F238E27FC236}">
                <a16:creationId xmlns:a16="http://schemas.microsoft.com/office/drawing/2014/main" id="{3F2CB296-CCCE-45A8-9B29-EB453616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ial-metric-value-4">
            <a:extLst xmlns:a="http://schemas.openxmlformats.org/drawingml/2006/main">
              <a:ext uri="{FF2B5EF4-FFF2-40B4-BE49-F238E27FC236}">
                <a16:creationId xmlns:a16="http://schemas.microsoft.com/office/drawing/2014/main" id="{A25383D2-4F68-47C0-BAC6-FDEEDF6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22" name="trial-metric-label-4">
            <a:extLst xmlns:a="http://schemas.openxmlformats.org/drawingml/2006/main">
              <a:ext uri="{FF2B5EF4-FFF2-40B4-BE49-F238E27FC236}">
                <a16:creationId xmlns:a16="http://schemas.microsoft.com/office/drawing/2014/main" id="{EF889373-F14B-4263-9C6C-AE2802DD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33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同主键 Old/New 并存组</a:t>
            </a:r>
          </a:p>
        </p:txBody>
      </p:sp>
      <p:sp>
        <p:nvSpPr>
          <p:cNvPr id="23" name="trial-metric-split-4">
            <a:extLst xmlns:a="http://schemas.openxmlformats.org/drawingml/2006/main">
              <a:ext uri="{FF2B5EF4-FFF2-40B4-BE49-F238E27FC236}">
                <a16:creationId xmlns:a16="http://schemas.microsoft.com/office/drawing/2014/main" id="{C4B0D22B-BD14-43C1-897B-5218AB86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rial-metric-value-5">
            <a:extLst xmlns:a="http://schemas.openxmlformats.org/drawingml/2006/main">
              <a:ext uri="{FF2B5EF4-FFF2-40B4-BE49-F238E27FC236}">
                <a16:creationId xmlns:a16="http://schemas.microsoft.com/office/drawing/2014/main" id="{9862F127-FAA3-497F-9075-E5B8447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0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  <p:sp>
        <p:nvSpPr>
          <p:cNvPr id="25" name="trial-metric-label-5">
            <a:extLst xmlns:a="http://schemas.openxmlformats.org/drawingml/2006/main">
              <a:ext uri="{FF2B5EF4-FFF2-40B4-BE49-F238E27FC236}">
                <a16:creationId xmlns:a16="http://schemas.microsoft.com/office/drawing/2014/main" id="{574C67F6-CFB4-4FA0-A479-9AA94F0F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33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II 期计划入组例数</a:t>
            </a:r>
          </a:p>
        </p:txBody>
      </p:sp>
      <p:sp>
        <p:nvSpPr>
          <p:cNvPr id="26" name="trial-governance-panel">
            <a:extLst xmlns:a="http://schemas.openxmlformats.org/drawingml/2006/main">
              <a:ext uri="{FF2B5EF4-FFF2-40B4-BE49-F238E27FC236}">
                <a16:creationId xmlns:a16="http://schemas.microsoft.com/office/drawing/2014/main" id="{80951DCD-94C3-4759-9F03-E291D66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4953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27" name="trial-governance-heading">
            <a:extLst xmlns:a="http://schemas.openxmlformats.org/drawingml/2006/main">
              <a:ext uri="{FF2B5EF4-FFF2-40B4-BE49-F238E27FC236}">
                <a16:creationId xmlns:a16="http://schemas.microsoft.com/office/drawing/2014/main" id="{E0BCDDCF-CDBC-4F1F-B845-BCD872C1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iCore 数据治理四步</a:t>
            </a:r>
          </a:p>
        </p:txBody>
      </p:sp>
      <p:sp>
        <p:nvSpPr>
          <p:cNvPr id="28" name="trial-governance-rule">
            <a:extLst xmlns:a="http://schemas.openxmlformats.org/drawingml/2006/main">
              <a:ext uri="{FF2B5EF4-FFF2-40B4-BE49-F238E27FC236}">
                <a16:creationId xmlns:a16="http://schemas.microsoft.com/office/drawing/2014/main" id="{948E08C3-915C-4E22-A28B-BAE0F454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rial-governance-body">
            <a:extLst xmlns:a="http://schemas.openxmlformats.org/drawingml/2006/main">
              <a:ext uri="{FF2B5EF4-FFF2-40B4-BE49-F238E27FC236}">
                <a16:creationId xmlns:a16="http://schemas.microsoft.com/office/drawing/2014/main" id="{74A1A7DF-4A98-4DDB-8A08-3021274D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552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① 解析与字典：固定 R2 真实表头，建立 21 表变量映射与 schema 断言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② 版本合并：按 Subject/Event/Form Sequence 分组；New 非空优先、Old 回填，并存组输出差异审计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③ 日期与缺失：_DT / _DTF / _RAW 三件套保留部分日期；区分结构性缺失与真缺失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④ 校验交付：完整性、唯一性、一致性、有效性规则；主表 + 宽表/长表 + 可重复流水线</a:t>
            </a:r>
          </a:p>
        </p:txBody>
      </p:sp>
      <p:sp>
        <p:nvSpPr>
          <p:cNvPr id="30" name="trial-protocol-panel">
            <a:extLst xmlns:a="http://schemas.openxmlformats.org/drawingml/2006/main">
              <a:ext uri="{FF2B5EF4-FFF2-40B4-BE49-F238E27FC236}">
                <a16:creationId xmlns:a16="http://schemas.microsoft.com/office/drawing/2014/main" id="{37FDCDFB-DFE1-426A-8DB1-1AEE7CA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6191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31" name="trial-protocol-heading">
            <a:extLst xmlns:a="http://schemas.openxmlformats.org/drawingml/2006/main">
              <a:ext uri="{FF2B5EF4-FFF2-40B4-BE49-F238E27FC236}">
                <a16:creationId xmlns:a16="http://schemas.microsoft.com/office/drawing/2014/main" id="{EA6DE65F-514D-4CA0-81DE-8EB7D2A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43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输出的 II 期方案设计</a:t>
            </a:r>
          </a:p>
        </p:txBody>
      </p:sp>
      <p:sp>
        <p:nvSpPr>
          <p:cNvPr id="32" name="trial-protocol-rule">
            <a:extLst xmlns:a="http://schemas.openxmlformats.org/drawingml/2006/main">
              <a:ext uri="{FF2B5EF4-FFF2-40B4-BE49-F238E27FC236}">
                <a16:creationId xmlns:a16="http://schemas.microsoft.com/office/drawing/2014/main" id="{FF39D2BD-1EFC-4B8C-8448-87DFF43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rial-protocol-body">
            <a:extLst xmlns:a="http://schemas.openxmlformats.org/drawingml/2006/main">
              <a:ext uri="{FF2B5EF4-FFF2-40B4-BE49-F238E27FC236}">
                <a16:creationId xmlns:a16="http://schemas.microsoft.com/office/drawing/2014/main" id="{09CA12F1-7B44-4623-B8C1-6877BE80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研究：不可切除 HCC，Atezolizumab + Bevacizumab 联合 SIRT-Y90；单臂、开放标签 II 期</a:t>
            </a:r>
          </a:p>
          <a:p xmlns:a="http://schemas.openxmlformats.org/drawingml/2006/main">
            <a:pPr>
              <a:defRPr sz="990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90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主要终点：ORR（RECIST 1.1）；影像每 8 周评估，生存随访每 12 周</a:t>
            </a:r>
          </a:p>
        </p:txBody>
      </p:sp>
      <p:sp>
        <p:nvSpPr>
          <p:cNvPr id="34" name="trial-simon-box-1">
            <a:extLst xmlns:a="http://schemas.openxmlformats.org/drawingml/2006/main">
              <a:ext uri="{FF2B5EF4-FFF2-40B4-BE49-F238E27FC236}">
                <a16:creationId xmlns:a16="http://schemas.microsoft.com/office/drawing/2014/main" id="{D3E12533-76B6-4F9E-946B-C98126E1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35" name="trial-simon-value-1">
            <a:extLst xmlns:a="http://schemas.openxmlformats.org/drawingml/2006/main">
              <a:ext uri="{FF2B5EF4-FFF2-40B4-BE49-F238E27FC236}">
                <a16:creationId xmlns:a16="http://schemas.microsoft.com/office/drawing/2014/main" id="{4C964958-9E1C-4A55-9041-6F893EF5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48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p₀ 40%</a:t>
            </a:r>
          </a:p>
        </p:txBody>
      </p:sp>
      <p:sp>
        <p:nvSpPr>
          <p:cNvPr id="36" name="trial-simon-label-1">
            <a:extLst xmlns:a="http://schemas.openxmlformats.org/drawingml/2006/main">
              <a:ext uri="{FF2B5EF4-FFF2-40B4-BE49-F238E27FC236}">
                <a16:creationId xmlns:a16="http://schemas.microsoft.com/office/drawing/2014/main" id="{E626A0F1-DB4C-428A-AB68-6E8E1CB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672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不值得继续</a:t>
            </a:r>
          </a:p>
        </p:txBody>
      </p:sp>
      <p:sp>
        <p:nvSpPr>
          <p:cNvPr id="37" name="trial-simon-box-2">
            <a:extLst xmlns:a="http://schemas.openxmlformats.org/drawingml/2006/main">
              <a:ext uri="{FF2B5EF4-FFF2-40B4-BE49-F238E27FC236}">
                <a16:creationId xmlns:a16="http://schemas.microsoft.com/office/drawing/2014/main" id="{746F6A59-ED8E-4980-A541-A4EBF72C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529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38" name="trial-simon-value-2">
            <a:extLst xmlns:a="http://schemas.openxmlformats.org/drawingml/2006/main">
              <a:ext uri="{FF2B5EF4-FFF2-40B4-BE49-F238E27FC236}">
                <a16:creationId xmlns:a16="http://schemas.microsoft.com/office/drawing/2014/main" id="{E4EE78D0-E5CB-41EB-AEEF-5E0C833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48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p₁ 60%</a:t>
            </a:r>
          </a:p>
        </p:txBody>
      </p:sp>
      <p:sp>
        <p:nvSpPr>
          <p:cNvPr id="39" name="trial-simon-label-2">
            <a:extLst xmlns:a="http://schemas.openxmlformats.org/drawingml/2006/main">
              <a:ext uri="{FF2B5EF4-FFF2-40B4-BE49-F238E27FC236}">
                <a16:creationId xmlns:a16="http://schemas.microsoft.com/office/drawing/2014/main" id="{858252BC-3C6B-482A-AF55-AD8FABA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672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值得推进</a:t>
            </a:r>
          </a:p>
        </p:txBody>
      </p:sp>
      <p:sp>
        <p:nvSpPr>
          <p:cNvPr id="40" name="trial-simon-box-3">
            <a:extLst xmlns:a="http://schemas.openxmlformats.org/drawingml/2006/main">
              <a:ext uri="{FF2B5EF4-FFF2-40B4-BE49-F238E27FC236}">
                <a16:creationId xmlns:a16="http://schemas.microsoft.com/office/drawing/2014/main" id="{69FF73CC-D24A-46CD-A569-FD49714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41" name="trial-simon-value-3">
            <a:extLst xmlns:a="http://schemas.openxmlformats.org/drawingml/2006/main">
              <a:ext uri="{FF2B5EF4-FFF2-40B4-BE49-F238E27FC236}">
                <a16:creationId xmlns:a16="http://schemas.microsoft.com/office/drawing/2014/main" id="{C101482A-40C9-4744-B35F-A4D37584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17→41</a:t>
            </a:r>
          </a:p>
        </p:txBody>
      </p:sp>
      <p:sp>
        <p:nvSpPr>
          <p:cNvPr id="42" name="trial-simon-label-3">
            <a:extLst xmlns:a="http://schemas.openxmlformats.org/drawingml/2006/main">
              <a:ext uri="{FF2B5EF4-FFF2-40B4-BE49-F238E27FC236}">
                <a16:creationId xmlns:a16="http://schemas.microsoft.com/office/drawing/2014/main" id="{ED1517A3-8FA1-449C-A7B7-FE1EE89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672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Simon 两阶段例数</a:t>
            </a:r>
          </a:p>
        </p:txBody>
      </p:sp>
      <p:sp>
        <p:nvSpPr>
          <p:cNvPr id="43" name="trial-simon-box-4">
            <a:extLst xmlns:a="http://schemas.openxmlformats.org/drawingml/2006/main">
              <a:ext uri="{FF2B5EF4-FFF2-40B4-BE49-F238E27FC236}">
                <a16:creationId xmlns:a16="http://schemas.microsoft.com/office/drawing/2014/main" id="{F8F031B8-EF3F-40D6-8F63-5CE8229D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529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44" name="trial-simon-value-4">
            <a:extLst xmlns:a="http://schemas.openxmlformats.org/drawingml/2006/main">
              <a:ext uri="{FF2B5EF4-FFF2-40B4-BE49-F238E27FC236}">
                <a16:creationId xmlns:a16="http://schemas.microsoft.com/office/drawing/2014/main" id="{A65F3926-CAFF-4753-A274-E5B1FED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48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80.1%</a:t>
            </a:r>
          </a:p>
        </p:txBody>
      </p:sp>
      <p:sp>
        <p:nvSpPr>
          <p:cNvPr id="45" name="trial-simon-label-4">
            <a:extLst xmlns:a="http://schemas.openxmlformats.org/drawingml/2006/main">
              <a:ext uri="{FF2B5EF4-FFF2-40B4-BE49-F238E27FC236}">
                <a16:creationId xmlns:a16="http://schemas.microsoft.com/office/drawing/2014/main" id="{79D76D6D-28A1-46F9-B66E-2BDF7A40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672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5A6677"/>
                </a:solidFill>
                <a:latin typeface="Calibri"/>
                <a:ea typeface="Calibri"/>
                <a:cs typeface="Calibri"/>
              </a:rPr>
              <a:t>把握度（α=0.047）</a:t>
            </a:r>
          </a:p>
        </p:txBody>
      </p:sp>
      <p:sp>
        <p:nvSpPr>
          <p:cNvPr id="46" name="trial-value-strip">
            <a:extLst xmlns:a="http://schemas.openxmlformats.org/drawingml/2006/main">
              <a:ext uri="{FF2B5EF4-FFF2-40B4-BE49-F238E27FC236}">
                <a16:creationId xmlns:a16="http://schemas.microsoft.com/office/drawing/2014/main" id="{DB82C468-8D42-4929-AE34-0857255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0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47" name="trial-value-heading">
            <a:extLst xmlns:a="http://schemas.openxmlformats.org/drawingml/2006/main">
              <a:ext uri="{FF2B5EF4-FFF2-40B4-BE49-F238E27FC236}">
                <a16:creationId xmlns:a16="http://schemas.microsoft.com/office/drawing/2014/main" id="{C091D514-5EF4-4413-B16C-B7012DFA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F5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71F58"/>
                </a:solidFill>
                <a:latin typeface="Calibri"/>
                <a:ea typeface="Calibri"/>
                <a:cs typeface="Calibri"/>
              </a:rPr>
              <a:t>治理带来的决策价值</a:t>
            </a:r>
          </a:p>
        </p:txBody>
      </p:sp>
      <p:sp>
        <p:nvSpPr>
          <p:cNvPr id="48" name="trial-value-body">
            <a:extLst xmlns:a="http://schemas.openxmlformats.org/drawingml/2006/main">
              <a:ext uri="{FF2B5EF4-FFF2-40B4-BE49-F238E27FC236}">
                <a16:creationId xmlns:a16="http://schemas.microsoft.com/office/drawing/2014/main" id="{B92958D2-8156-44DB-BD9B-AAA8745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872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分母锁定：跨 sheet 人群覆盖 32–193 人，合并前明确各分析集，避免重复计数与错误对照</a:t>
            </a:r>
          </a:p>
          <a:p xmlns:a="http://schemas.openxmlformats.org/drawingml/2006/main">
            <a:pPr>
              <a:defRPr sz="975">
                <a:solidFill>
                  <a:srgbClr val="2F3B4B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2F3B4B"/>
                </a:solidFill>
                <a:latin typeface="Calibri"/>
                <a:ea typeface="Calibri"/>
                <a:cs typeface="Calibri"/>
              </a:rPr>
              <a:t>• 可复核：保留原始值、处理规则与差异清单，支持医学监查、query 闭环和后续 SDTM 对齐</a:t>
            </a:r>
          </a:p>
        </p:txBody>
      </p:sp>
      <p:sp>
        <p:nvSpPr>
          <p:cNvPr id="49" name="trial-warning-strip">
            <a:extLst xmlns:a="http://schemas.openxmlformats.org/drawingml/2006/main">
              <a:ext uri="{FF2B5EF4-FFF2-40B4-BE49-F238E27FC236}">
                <a16:creationId xmlns:a16="http://schemas.microsoft.com/office/drawing/2014/main" id="{FA58D2AF-9756-48C6-9AC8-20CEDBE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C46B"/>
            </a:solidFill>
            <a:prstDash val="solid"/>
          </a:ln>
        </p:spPr>
      </p:sp>
      <p:sp>
        <p:nvSpPr>
          <p:cNvPr id="50" name="trial-warning-text">
            <a:extLst xmlns:a="http://schemas.openxmlformats.org/drawingml/2006/main">
              <a:ext uri="{FF2B5EF4-FFF2-40B4-BE49-F238E27FC236}">
                <a16:creationId xmlns:a16="http://schemas.microsoft.com/office/drawing/2014/main" id="{193BCD27-2E64-4015-9BAB-755AD398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A4A0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4A00"/>
                </a:solidFill>
                <a:latin typeface="Calibri"/>
                <a:ea typeface="Calibri"/>
                <a:cs typeface="Calibri"/>
              </a:rPr>
              <a:t>边界：Old/New 差异清单仍需医学监查确认；方案为草案 v0.1，伦理、注册、申办方授权与监管审批后方可执行。</a:t>
            </a:r>
          </a:p>
        </p:txBody>
      </p:sp>
    </p:spTree>
    <p:extLst>
      <p:ext uri="{BB962C8B-B14F-4D97-AF65-F5344CB8AC3E}">
        <p14:creationId xmlns:p14="http://schemas.microsoft.com/office/powerpoint/2010/main" val="71722476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2026-08-17T14:04:36.4440000Z</dcterms:created>
  <dcterms:modified xsi:type="dcterms:W3CDTF">2026-08-17T14:04:36.4440000Z</dcterms:modified>
</coreProperties>
</file>